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Architects Daughter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rchitectsDaughter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52c5c8f3e_8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52c5c8f3e_8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4f1e039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4f1e039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4f1e039d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4f1e039d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50d461b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50d461b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52504590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52504590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4f1e039d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4f1e039d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52c5c8f3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52c5c8f3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92150"/>
            <a:ext cx="8520600" cy="17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>
                <a:latin typeface="Architects Daughter"/>
                <a:ea typeface="Architects Daughter"/>
                <a:cs typeface="Architects Daughter"/>
                <a:sym typeface="Architects Daughter"/>
              </a:rPr>
              <a:t>Digital Twin Dashboard with Real-Time Robot Telemetry</a:t>
            </a:r>
            <a:r>
              <a:rPr lang="de" sz="4800"/>
              <a:t> </a:t>
            </a:r>
            <a:endParaRPr sz="4800"/>
          </a:p>
        </p:txBody>
      </p:sp>
      <p:pic>
        <p:nvPicPr>
          <p:cNvPr id="55" name="Google Shape;55;p13" title="machine_robot_contest_wom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3900" y="2196550"/>
            <a:ext cx="9232701" cy="29691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29550" y="2196550"/>
            <a:ext cx="2254500" cy="15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latin typeface="Architects Daughter"/>
                <a:ea typeface="Architects Daughter"/>
                <a:cs typeface="Architects Daughter"/>
                <a:sym typeface="Architects Daughter"/>
              </a:rPr>
              <a:t>Team Members</a:t>
            </a:r>
            <a:endParaRPr b="1" sz="1600"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chitects Daughter"/>
              <a:buChar char="●"/>
            </a:pPr>
            <a:r>
              <a:rPr lang="de" sz="1600">
                <a:latin typeface="Architects Daughter"/>
                <a:ea typeface="Architects Daughter"/>
                <a:cs typeface="Architects Daughter"/>
                <a:sym typeface="Architects Daughter"/>
              </a:rPr>
              <a:t>Alessandra Gorini</a:t>
            </a:r>
            <a:endParaRPr sz="1600"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chitects Daughter"/>
              <a:buChar char="●"/>
            </a:pPr>
            <a:r>
              <a:rPr lang="de" sz="1600">
                <a:latin typeface="Architects Daughter"/>
                <a:ea typeface="Architects Daughter"/>
                <a:cs typeface="Architects Daughter"/>
                <a:sym typeface="Architects Daughter"/>
              </a:rPr>
              <a:t>Tom Marti</a:t>
            </a:r>
            <a:endParaRPr sz="1600"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chitects Daughter"/>
              <a:buChar char="●"/>
            </a:pPr>
            <a:r>
              <a:rPr lang="de" sz="1600">
                <a:latin typeface="Architects Daughter"/>
                <a:ea typeface="Architects Daughter"/>
                <a:cs typeface="Architects Daughter"/>
                <a:sym typeface="Architects Daughter"/>
              </a:rPr>
              <a:t>Antonio Aparicio</a:t>
            </a:r>
            <a:endParaRPr sz="1600"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chitects Daughter"/>
              <a:buChar char="●"/>
            </a:pPr>
            <a:r>
              <a:rPr lang="de" sz="1600">
                <a:latin typeface="Architects Daughter"/>
                <a:ea typeface="Architects Daughter"/>
                <a:cs typeface="Architects Daughter"/>
                <a:sym typeface="Architects Daughter"/>
              </a:rPr>
              <a:t>Andrew Mullen</a:t>
            </a:r>
            <a:endParaRPr sz="1600"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chitects Daughter"/>
              <a:buChar char="●"/>
            </a:pPr>
            <a:r>
              <a:rPr lang="de" sz="1600">
                <a:latin typeface="Architects Daughter"/>
                <a:ea typeface="Architects Daughter"/>
                <a:cs typeface="Architects Daughter"/>
                <a:sym typeface="Architects Daughter"/>
              </a:rPr>
              <a:t>Anouk Martinez</a:t>
            </a:r>
            <a:endParaRPr sz="1600"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chitects Daughter"/>
              <a:buChar char="●"/>
            </a:pPr>
            <a:r>
              <a:rPr lang="de" sz="1600">
                <a:latin typeface="Architects Daughter"/>
                <a:ea typeface="Architects Daughter"/>
                <a:cs typeface="Architects Daughter"/>
                <a:sym typeface="Architects Daughter"/>
              </a:rPr>
              <a:t>Felix Merz</a:t>
            </a:r>
            <a:endParaRPr sz="1600"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4671775" y="109950"/>
            <a:ext cx="4264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de" sz="1185">
                <a:latin typeface="Architects Daughter"/>
                <a:ea typeface="Architects Daughter"/>
                <a:cs typeface="Architects Daughter"/>
                <a:sym typeface="Architects Daughter"/>
              </a:rPr>
              <a:t>DevOps for Cyber-Physical Systems | University of Bern</a:t>
            </a:r>
            <a:endParaRPr sz="1185"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785950" y="2196550"/>
            <a:ext cx="3000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chemeClr val="dk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Supervised by:</a:t>
            </a:r>
            <a:r>
              <a:rPr lang="de" sz="1600">
                <a:solidFill>
                  <a:schemeClr val="dk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</a:t>
            </a:r>
            <a:endParaRPr sz="1600">
              <a:solidFill>
                <a:schemeClr val="dk2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tects Daughter"/>
              <a:buChar char="●"/>
            </a:pPr>
            <a:r>
              <a:rPr lang="de" sz="1600">
                <a:solidFill>
                  <a:schemeClr val="dk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Prakash Aryan 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tects Daughter"/>
              <a:buChar char="-"/>
            </a:pPr>
            <a:r>
              <a:rPr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Autonomous Robots not transparent enough</a:t>
            </a:r>
            <a:endParaRPr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Overview </a:t>
            </a:r>
            <a:r>
              <a:rPr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of all the things going on </a:t>
            </a:r>
            <a:r>
              <a:rPr b="1"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inside</a:t>
            </a:r>
            <a:endParaRPr b="1"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tects Daughter"/>
              <a:buChar char="-"/>
            </a:pPr>
            <a:r>
              <a:rPr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Battery, Collision Alerts, Faulty values, Drifting</a:t>
            </a:r>
            <a:endParaRPr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tects Daughter"/>
              <a:buChar char="-"/>
            </a:pPr>
            <a:r>
              <a:rPr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Via some kind of </a:t>
            </a:r>
            <a:r>
              <a:rPr b="1"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monitoring software on the web</a:t>
            </a:r>
            <a:endParaRPr b="1"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tects Daughter"/>
              <a:buChar char="-"/>
            </a:pPr>
            <a:r>
              <a:rPr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But how does this work when</a:t>
            </a:r>
            <a:br>
              <a:rPr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</a:br>
            <a:r>
              <a:rPr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multiple robots are in action?</a:t>
            </a:r>
            <a:endParaRPr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tects Daughter"/>
              <a:buChar char="-"/>
            </a:pPr>
            <a:r>
              <a:rPr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We can’t watch all dashboards</a:t>
            </a:r>
            <a:br>
              <a:rPr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</a:br>
            <a:r>
              <a:rPr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at once…</a:t>
            </a:r>
            <a:endParaRPr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pic>
        <p:nvPicPr>
          <p:cNvPr id="64" name="Google Shape;64;p14" title="slide_jok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8645" y="2926377"/>
            <a:ext cx="6292250" cy="23509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295600"/>
            <a:ext cx="85206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3200">
                <a:latin typeface="Architects Daughter"/>
                <a:ea typeface="Architects Daughter"/>
                <a:cs typeface="Architects Daughter"/>
                <a:sym typeface="Architects Daughter"/>
              </a:rPr>
              <a:t>Motivation and Problem</a:t>
            </a:r>
            <a:endParaRPr b="1" sz="3200"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950550" y="2157900"/>
            <a:ext cx="2692800" cy="539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950550" y="2697400"/>
            <a:ext cx="2692800" cy="502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3791125" y="2782175"/>
            <a:ext cx="5154300" cy="1729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3791125" y="968200"/>
            <a:ext cx="5154300" cy="1729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295600"/>
            <a:ext cx="85206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3200">
                <a:latin typeface="Architects Daughter"/>
                <a:ea typeface="Architects Daughter"/>
                <a:cs typeface="Architects Daughter"/>
                <a:sym typeface="Architects Daughter"/>
              </a:rPr>
              <a:t>Goal</a:t>
            </a:r>
            <a:endParaRPr b="1" sz="3200"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pic>
        <p:nvPicPr>
          <p:cNvPr id="75" name="Google Shape;75;p15" title="GetImage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7175" y="632125"/>
            <a:ext cx="5228327" cy="387924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311700" y="1068259"/>
            <a:ext cx="3361200" cy="28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tects Daughter"/>
              <a:buChar char="-"/>
            </a:pPr>
            <a:r>
              <a:rPr lang="de" sz="1800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Centralized information</a:t>
            </a:r>
            <a:br>
              <a:rPr lang="de" sz="1800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</a:br>
            <a:r>
              <a:rPr lang="de" sz="1800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source, easy to set up</a:t>
            </a:r>
            <a:endParaRPr sz="1800"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tects Daughter"/>
              <a:buChar char="-"/>
            </a:pPr>
            <a:r>
              <a:rPr lang="de" sz="1800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Separate</a:t>
            </a:r>
            <a:endParaRPr sz="1800"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tects Daughter"/>
              <a:buChar char="-"/>
            </a:pPr>
            <a:r>
              <a:rPr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Common information</a:t>
            </a:r>
            <a:br>
              <a:rPr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</a:br>
            <a:r>
              <a:rPr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(Fleet Overview)</a:t>
            </a:r>
            <a:endParaRPr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tects Daughter"/>
              <a:buChar char="-"/>
            </a:pPr>
            <a:r>
              <a:rPr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Robot specific information</a:t>
            </a:r>
            <a:br>
              <a:rPr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</a:br>
            <a:r>
              <a:rPr lang="d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(Individual Dashboards)</a:t>
            </a:r>
            <a:endParaRPr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tects Daughter"/>
              <a:buChar char="-"/>
            </a:pPr>
            <a:r>
              <a:rPr lang="de" sz="1800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Combine Robot Info when appropriate</a:t>
            </a:r>
            <a:endParaRPr sz="1800">
              <a:solidFill>
                <a:schemeClr val="dk1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6"/>
          <p:cNvGrpSpPr/>
          <p:nvPr/>
        </p:nvGrpSpPr>
        <p:grpSpPr>
          <a:xfrm>
            <a:off x="3500400" y="2013350"/>
            <a:ext cx="2143200" cy="2046000"/>
            <a:chOff x="3392125" y="1919550"/>
            <a:chExt cx="2143200" cy="2046000"/>
          </a:xfrm>
        </p:grpSpPr>
        <p:sp>
          <p:nvSpPr>
            <p:cNvPr id="82" name="Google Shape;82;p16"/>
            <p:cNvSpPr/>
            <p:nvPr/>
          </p:nvSpPr>
          <p:spPr>
            <a:xfrm>
              <a:off x="3392125" y="1919550"/>
              <a:ext cx="2143200" cy="20460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ROS Bridge</a:t>
              </a:r>
              <a:endParaRPr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  <p:sp>
          <p:nvSpPr>
            <p:cNvPr id="83" name="Google Shape;83;p16"/>
            <p:cNvSpPr/>
            <p:nvPr/>
          </p:nvSpPr>
          <p:spPr>
            <a:xfrm>
              <a:off x="3727225" y="2515425"/>
              <a:ext cx="1473000" cy="462900"/>
            </a:xfrm>
            <a:prstGeom prst="roundRect">
              <a:avLst>
                <a:gd fmla="val 16667" name="adj"/>
              </a:avLst>
            </a:prstGeom>
            <a:solidFill>
              <a:srgbClr val="D9D2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Websocket</a:t>
              </a:r>
              <a:endParaRPr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  <p:sp>
          <p:nvSpPr>
            <p:cNvPr id="84" name="Google Shape;84;p16"/>
            <p:cNvSpPr/>
            <p:nvPr/>
          </p:nvSpPr>
          <p:spPr>
            <a:xfrm>
              <a:off x="3664225" y="3257625"/>
              <a:ext cx="1599000" cy="462900"/>
            </a:xfrm>
            <a:prstGeom prst="roundRect">
              <a:avLst>
                <a:gd fmla="val 16667" name="adj"/>
              </a:avLst>
            </a:prstGeom>
            <a:solidFill>
              <a:srgbClr val="D9D2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rosbridge_suite</a:t>
              </a:r>
              <a:endParaRPr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  <p:grpSp>
        <p:nvGrpSpPr>
          <p:cNvPr id="85" name="Google Shape;85;p16"/>
          <p:cNvGrpSpPr/>
          <p:nvPr/>
        </p:nvGrpSpPr>
        <p:grpSpPr>
          <a:xfrm>
            <a:off x="6016200" y="1393400"/>
            <a:ext cx="2816100" cy="3285900"/>
            <a:chOff x="6016200" y="928800"/>
            <a:chExt cx="2816100" cy="3285900"/>
          </a:xfrm>
        </p:grpSpPr>
        <p:sp>
          <p:nvSpPr>
            <p:cNvPr id="86" name="Google Shape;86;p16"/>
            <p:cNvSpPr/>
            <p:nvPr/>
          </p:nvSpPr>
          <p:spPr>
            <a:xfrm>
              <a:off x="6016200" y="928800"/>
              <a:ext cx="2816100" cy="3285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ROS 2/Simulation (Docker)</a:t>
              </a:r>
              <a:endParaRPr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6239250" y="2514650"/>
              <a:ext cx="2370000" cy="4629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ros_gz_bridge</a:t>
              </a:r>
              <a:endParaRPr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6239250" y="1477800"/>
              <a:ext cx="2370000" cy="462900"/>
            </a:xfrm>
            <a:prstGeom prst="roundRect">
              <a:avLst>
                <a:gd fmla="val 16667" name="adj"/>
              </a:avLst>
            </a:prstGeom>
            <a:solidFill>
              <a:srgbClr val="FCE5C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Ignition Gazebo Fortress</a:t>
              </a:r>
              <a:endParaRPr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6239250" y="3033075"/>
              <a:ext cx="2370000" cy="4629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robot_state_publisher</a:t>
              </a:r>
              <a:endParaRPr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6239250" y="1996225"/>
              <a:ext cx="2370000" cy="462900"/>
            </a:xfrm>
            <a:prstGeom prst="roundRect">
              <a:avLst>
                <a:gd fmla="val 16667" name="adj"/>
              </a:avLst>
            </a:prstGeom>
            <a:solidFill>
              <a:srgbClr val="FCE5C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TurtleBot3 Waffle</a:t>
              </a:r>
              <a:endParaRPr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6239250" y="3551500"/>
              <a:ext cx="2370000" cy="4629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image_compressor</a:t>
              </a:r>
              <a:endParaRPr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  <p:grpSp>
        <p:nvGrpSpPr>
          <p:cNvPr id="92" name="Google Shape;92;p16"/>
          <p:cNvGrpSpPr/>
          <p:nvPr/>
        </p:nvGrpSpPr>
        <p:grpSpPr>
          <a:xfrm>
            <a:off x="311700" y="1393400"/>
            <a:ext cx="2816100" cy="3285900"/>
            <a:chOff x="311700" y="928800"/>
            <a:chExt cx="2816100" cy="3285900"/>
          </a:xfrm>
        </p:grpSpPr>
        <p:grpSp>
          <p:nvGrpSpPr>
            <p:cNvPr id="93" name="Google Shape;93;p16"/>
            <p:cNvGrpSpPr/>
            <p:nvPr/>
          </p:nvGrpSpPr>
          <p:grpSpPr>
            <a:xfrm>
              <a:off x="311700" y="928800"/>
              <a:ext cx="2816100" cy="3285900"/>
              <a:chOff x="311700" y="928800"/>
              <a:chExt cx="2816100" cy="3285900"/>
            </a:xfrm>
          </p:grpSpPr>
          <p:sp>
            <p:nvSpPr>
              <p:cNvPr id="94" name="Google Shape;94;p16"/>
              <p:cNvSpPr/>
              <p:nvPr/>
            </p:nvSpPr>
            <p:spPr>
              <a:xfrm>
                <a:off x="311700" y="928800"/>
                <a:ext cx="2816100" cy="32859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>
                    <a:latin typeface="Architects Daughter"/>
                    <a:ea typeface="Architects Daughter"/>
                    <a:cs typeface="Architects Daughter"/>
                    <a:sym typeface="Architects Daughter"/>
                  </a:rPr>
                  <a:t>Next.js Web/Desktop App</a:t>
                </a:r>
                <a:endParaRPr>
                  <a:latin typeface="Architects Daughter"/>
                  <a:ea typeface="Architects Daughter"/>
                  <a:cs typeface="Architects Daughter"/>
                  <a:sym typeface="Architects Daughter"/>
                </a:endParaRPr>
              </a:p>
            </p:txBody>
          </p:sp>
          <p:sp>
            <p:nvSpPr>
              <p:cNvPr id="95" name="Google Shape;95;p16"/>
              <p:cNvSpPr/>
              <p:nvPr/>
            </p:nvSpPr>
            <p:spPr>
              <a:xfrm>
                <a:off x="558200" y="1477807"/>
                <a:ext cx="2370000" cy="462900"/>
              </a:xfrm>
              <a:prstGeom prst="roundRect">
                <a:avLst>
                  <a:gd fmla="val 16667" name="adj"/>
                </a:avLst>
              </a:prstGeom>
              <a:solidFill>
                <a:srgbClr val="D9D2E9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>
                    <a:latin typeface="Architects Daughter"/>
                    <a:ea typeface="Architects Daughter"/>
                    <a:cs typeface="Architects Daughter"/>
                    <a:sym typeface="Architects Daughter"/>
                  </a:rPr>
                  <a:t>RosBridge Client</a:t>
                </a:r>
                <a:endParaRPr>
                  <a:latin typeface="Architects Daughter"/>
                  <a:ea typeface="Architects Daughter"/>
                  <a:cs typeface="Architects Daughter"/>
                  <a:sym typeface="Architects Daughter"/>
                </a:endParaRPr>
              </a:p>
            </p:txBody>
          </p:sp>
        </p:grpSp>
        <p:sp>
          <p:nvSpPr>
            <p:cNvPr id="96" name="Google Shape;96;p16"/>
            <p:cNvSpPr/>
            <p:nvPr/>
          </p:nvSpPr>
          <p:spPr>
            <a:xfrm>
              <a:off x="534750" y="2005625"/>
              <a:ext cx="1140600" cy="14811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1200"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Panels (Grafana):</a:t>
              </a:r>
              <a:endParaRPr sz="1200"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1200"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Video, </a:t>
              </a:r>
              <a:r>
                <a:rPr lang="de" sz="1200"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Controls, </a:t>
              </a:r>
              <a:r>
                <a:rPr lang="de" sz="1200"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Sensor Data, Map, </a:t>
              </a:r>
              <a:r>
                <a:rPr lang="de" sz="1200">
                  <a:solidFill>
                    <a:schemeClr val="dk1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Telemetry</a:t>
              </a:r>
              <a:endParaRPr sz="1200"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1797750" y="2028150"/>
              <a:ext cx="1140600" cy="14586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Hooks:</a:t>
              </a:r>
              <a:endParaRPr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useROS, useDR,  useTF</a:t>
              </a:r>
              <a:endParaRPr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534750" y="3532707"/>
              <a:ext cx="2370000" cy="4629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DashboardClient</a:t>
              </a:r>
              <a:endParaRPr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  <p:cxnSp>
        <p:nvCxnSpPr>
          <p:cNvPr id="99" name="Google Shape;99;p16"/>
          <p:cNvCxnSpPr>
            <a:stCxn id="95" idx="3"/>
            <a:endCxn id="83" idx="1"/>
          </p:cNvCxnSpPr>
          <p:nvPr/>
        </p:nvCxnSpPr>
        <p:spPr>
          <a:xfrm>
            <a:off x="2928200" y="2173857"/>
            <a:ext cx="907200" cy="666900"/>
          </a:xfrm>
          <a:prstGeom prst="curvedConnector3">
            <a:avLst>
              <a:gd fmla="val 500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00" name="Google Shape;100;p16"/>
          <p:cNvCxnSpPr>
            <a:stCxn id="84" idx="3"/>
            <a:endCxn id="86" idx="1"/>
          </p:cNvCxnSpPr>
          <p:nvPr/>
        </p:nvCxnSpPr>
        <p:spPr>
          <a:xfrm flipH="1" rot="10800000">
            <a:off x="5371500" y="3036275"/>
            <a:ext cx="644700" cy="546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01" name="Google Shape;101;p16"/>
          <p:cNvCxnSpPr>
            <a:stCxn id="83" idx="2"/>
            <a:endCxn id="84" idx="0"/>
          </p:cNvCxnSpPr>
          <p:nvPr/>
        </p:nvCxnSpPr>
        <p:spPr>
          <a:xfrm>
            <a:off x="4572000" y="3072125"/>
            <a:ext cx="0" cy="27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02" name="Google Shape;102;p16"/>
          <p:cNvSpPr txBox="1"/>
          <p:nvPr>
            <p:ph type="title"/>
          </p:nvPr>
        </p:nvSpPr>
        <p:spPr>
          <a:xfrm>
            <a:off x="311700" y="295600"/>
            <a:ext cx="85206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3200">
                <a:latin typeface="Architects Daughter"/>
                <a:ea typeface="Architects Daughter"/>
                <a:cs typeface="Architects Daughter"/>
                <a:sym typeface="Architects Daughter"/>
              </a:rPr>
              <a:t>Architecture and Techstack</a:t>
            </a:r>
            <a:endParaRPr b="1" sz="3200"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Architects Daughter"/>
                <a:ea typeface="Architects Daughter"/>
                <a:cs typeface="Architects Daughter"/>
                <a:sym typeface="Architects Daughter"/>
              </a:rPr>
              <a:t>DEMO</a:t>
            </a:r>
            <a:endParaRPr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chitects Daughter"/>
              <a:buChar char="-"/>
            </a:pPr>
            <a:r>
              <a:rPr lang="de">
                <a:latin typeface="Architects Daughter"/>
                <a:ea typeface="Architects Daughter"/>
                <a:cs typeface="Architects Daughter"/>
                <a:sym typeface="Architects Daughter"/>
              </a:rPr>
              <a:t>Cross-robot panels on the Common tab (2d map)</a:t>
            </a:r>
            <a:endParaRPr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chitects Daughter"/>
              <a:buChar char="-"/>
            </a:pPr>
            <a:r>
              <a:rPr lang="de">
                <a:latin typeface="Architects Daughter"/>
                <a:ea typeface="Architects Daughter"/>
                <a:cs typeface="Architects Daughter"/>
                <a:sym typeface="Architects Daughter"/>
              </a:rPr>
              <a:t>Trajectory history sensor widget</a:t>
            </a:r>
            <a:endParaRPr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chitects Daughter"/>
              <a:buChar char="-"/>
            </a:pPr>
            <a:r>
              <a:rPr lang="de">
                <a:latin typeface="Architects Daughter"/>
                <a:ea typeface="Architects Daughter"/>
                <a:cs typeface="Architects Daughter"/>
                <a:sym typeface="Architects Daughter"/>
              </a:rPr>
              <a:t>Camera feed with object detection</a:t>
            </a:r>
            <a:endParaRPr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311700" y="295600"/>
            <a:ext cx="85206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3200">
                <a:latin typeface="Architects Daughter"/>
                <a:ea typeface="Architects Daughter"/>
                <a:cs typeface="Architects Daughter"/>
                <a:sym typeface="Architects Daughter"/>
              </a:rPr>
              <a:t>Limitations</a:t>
            </a:r>
            <a:endParaRPr b="1" sz="3200"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chitects Daughter"/>
              <a:buChar char="-"/>
            </a:pPr>
            <a:r>
              <a:rPr lang="de">
                <a:latin typeface="Architects Daughter"/>
                <a:ea typeface="Architects Daughter"/>
                <a:cs typeface="Architects Daughter"/>
                <a:sym typeface="Architects Daughter"/>
              </a:rPr>
              <a:t>Single centralized interface to watch a fleet telemetry</a:t>
            </a:r>
            <a:endParaRPr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chitects Daughter"/>
              <a:buChar char="-"/>
            </a:pPr>
            <a:r>
              <a:rPr lang="de">
                <a:latin typeface="Architects Daughter"/>
                <a:ea typeface="Architects Daughter"/>
                <a:cs typeface="Architects Daughter"/>
                <a:sym typeface="Architects Daughter"/>
              </a:rPr>
              <a:t>Not only monitoring, also robot control</a:t>
            </a:r>
            <a:endParaRPr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chitects Daughter"/>
              <a:buChar char="-"/>
            </a:pPr>
            <a:r>
              <a:rPr lang="de">
                <a:latin typeface="Architects Daughter"/>
                <a:ea typeface="Architects Daughter"/>
                <a:cs typeface="Architects Daughter"/>
                <a:sym typeface="Architects Daughter"/>
              </a:rPr>
              <a:t>Modular and easy to extend (add robot or sensors with a minimal setup)</a:t>
            </a:r>
            <a:endParaRPr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chitects Daughter"/>
              <a:buChar char="-"/>
            </a:pPr>
            <a:r>
              <a:rPr lang="de">
                <a:latin typeface="Architects Daughter"/>
                <a:ea typeface="Architects Daughter"/>
                <a:cs typeface="Architects Daughter"/>
                <a:sym typeface="Architects Daughter"/>
              </a:rPr>
              <a:t>Work in simulation, need to be tested on real bots</a:t>
            </a:r>
            <a:endParaRPr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119" name="Google Shape;119;p19"/>
          <p:cNvSpPr txBox="1"/>
          <p:nvPr>
            <p:ph type="title"/>
          </p:nvPr>
        </p:nvSpPr>
        <p:spPr>
          <a:xfrm>
            <a:off x="311700" y="295600"/>
            <a:ext cx="85206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3200">
                <a:latin typeface="Architects Daughter"/>
                <a:ea typeface="Architects Daughter"/>
                <a:cs typeface="Architects Daughter"/>
                <a:sym typeface="Architects Daughter"/>
              </a:rPr>
              <a:t>Conclusion</a:t>
            </a:r>
            <a:endParaRPr b="1" sz="3200"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pic>
        <p:nvPicPr>
          <p:cNvPr id="120" name="Google Shape;120;p19" title="friends_rob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3500" y="2413263"/>
            <a:ext cx="3810000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